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27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35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22.xml" ContentType="application/vnd.openxmlformats-officedocument.presentationml.slide+xml"/>
  <Override PartName="/ppt/slides/slide34.xml" ContentType="application/vnd.openxmlformats-officedocument.presentationml.slide+xml"/>
  <Override PartName="/ppt/slides/slide23.xml" ContentType="application/vnd.openxmlformats-officedocument.presentationml.slide+xml"/>
  <Override PartName="/ppt/slides/slide35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E15733A-2E46-4D6B-AA27-0D1D5D7540E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06E289-E217-480E-A73D-BE36BE11BB1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1BA7CA-047B-438E-BD4A-41F62D3E979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832DCDA-A531-4764-857C-4DE6081CD60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40C82BB-FB77-44A4-909E-A76554722F9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BA9A1DF-7CC2-40CD-8CBE-472EC486F5A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690D474-9D7C-4201-BC64-06DD30599FC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A6E8FE-2B2A-418C-A7AA-A8E90DB0A40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4297100-365B-4368-8F3C-B88B4797951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C2D6DA-E2AD-46E1-ACB4-04554922F0C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CC40599-6AB9-4A6F-AD13-426555A1AE2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5029200" y="914400"/>
            <a:ext cx="18284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7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🛡️</a:t>
            </a:r>
            <a:endParaRPr b="0" lang="en-US" sz="7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3"/>
          <p:cNvSpPr/>
          <p:nvPr/>
        </p:nvSpPr>
        <p:spPr>
          <a:xfrm>
            <a:off x="914400" y="2011680"/>
            <a:ext cx="10362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Phishing Guard v2.0</a:t>
            </a:r>
            <a:endParaRPr b="0" lang="en-US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914400" y="3017520"/>
            <a:ext cx="10362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400" strike="noStrike" u="none">
                <a:solidFill>
                  <a:srgbClr val="c8c8c8"/>
                </a:solidFill>
                <a:effectLst/>
                <a:uFillTx/>
                <a:latin typeface="Calibri"/>
              </a:rPr>
              <a:t>Multimodal AI-Based Phishing Detection System with Enhanced Security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914400" y="4572000"/>
            <a:ext cx="10362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fbbf24"/>
                </a:solidFill>
                <a:effectLst/>
                <a:uFillTx/>
                <a:latin typeface="Calibri"/>
              </a:rPr>
              <a:t>Final Year IEEE Project | Production-Grade Security Solution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br>
              <a:rPr sz="1600"/>
            </a:b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Presented by: [Your Name]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Institution: [Your University]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February 2025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Presentation Agenda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ounded Rectangle 2"/>
          <p:cNvSpPr/>
          <p:nvPr/>
        </p:nvSpPr>
        <p:spPr>
          <a:xfrm>
            <a:off x="457200" y="1188720"/>
            <a:ext cx="548280" cy="45684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3"/>
          <p:cNvSpPr/>
          <p:nvPr/>
        </p:nvSpPr>
        <p:spPr>
          <a:xfrm>
            <a:off x="457200" y="123444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1️⃣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4"/>
          <p:cNvSpPr/>
          <p:nvPr/>
        </p:nvSpPr>
        <p:spPr>
          <a:xfrm>
            <a:off x="1188720" y="118872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Introduction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5"/>
          <p:cNvSpPr/>
          <p:nvPr/>
        </p:nvSpPr>
        <p:spPr>
          <a:xfrm>
            <a:off x="4114800" y="118872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Project overview, motivation &amp; problem statement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Rounded Rectangle 6"/>
          <p:cNvSpPr/>
          <p:nvPr/>
        </p:nvSpPr>
        <p:spPr>
          <a:xfrm>
            <a:off x="457200" y="1828800"/>
            <a:ext cx="548280" cy="45684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7"/>
          <p:cNvSpPr/>
          <p:nvPr/>
        </p:nvSpPr>
        <p:spPr>
          <a:xfrm>
            <a:off x="457200" y="187452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2️⃣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8"/>
          <p:cNvSpPr/>
          <p:nvPr/>
        </p:nvSpPr>
        <p:spPr>
          <a:xfrm>
            <a:off x="1188720" y="182880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Background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9"/>
          <p:cNvSpPr/>
          <p:nvPr/>
        </p:nvSpPr>
        <p:spPr>
          <a:xfrm>
            <a:off x="4114800" y="18288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Threat landscape &amp; existing solution gaps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0"/>
          <p:cNvSpPr/>
          <p:nvPr/>
        </p:nvSpPr>
        <p:spPr>
          <a:xfrm>
            <a:off x="457200" y="2468880"/>
            <a:ext cx="548280" cy="45684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1"/>
          <p:cNvSpPr/>
          <p:nvPr/>
        </p:nvSpPr>
        <p:spPr>
          <a:xfrm>
            <a:off x="457200" y="251460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3️⃣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2"/>
          <p:cNvSpPr/>
          <p:nvPr/>
        </p:nvSpPr>
        <p:spPr>
          <a:xfrm>
            <a:off x="1188720" y="24688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Objectives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3"/>
          <p:cNvSpPr/>
          <p:nvPr/>
        </p:nvSpPr>
        <p:spPr>
          <a:xfrm>
            <a:off x="4114800" y="246888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Goals &amp; key innovations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14"/>
          <p:cNvSpPr/>
          <p:nvPr/>
        </p:nvSpPr>
        <p:spPr>
          <a:xfrm>
            <a:off x="457200" y="3108960"/>
            <a:ext cx="548280" cy="45684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15"/>
          <p:cNvSpPr/>
          <p:nvPr/>
        </p:nvSpPr>
        <p:spPr>
          <a:xfrm>
            <a:off x="457200" y="315468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4️⃣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6"/>
          <p:cNvSpPr/>
          <p:nvPr/>
        </p:nvSpPr>
        <p:spPr>
          <a:xfrm>
            <a:off x="1188720" y="310896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Methodology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7"/>
          <p:cNvSpPr/>
          <p:nvPr/>
        </p:nvSpPr>
        <p:spPr>
          <a:xfrm>
            <a:off x="4114800" y="310896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Architecture &amp; 4-tier detection pipeline ⭐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18"/>
          <p:cNvSpPr/>
          <p:nvPr/>
        </p:nvSpPr>
        <p:spPr>
          <a:xfrm>
            <a:off x="457200" y="3749040"/>
            <a:ext cx="548280" cy="45684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19"/>
          <p:cNvSpPr/>
          <p:nvPr/>
        </p:nvSpPr>
        <p:spPr>
          <a:xfrm>
            <a:off x="457200" y="379476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5️⃣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0"/>
          <p:cNvSpPr/>
          <p:nvPr/>
        </p:nvSpPr>
        <p:spPr>
          <a:xfrm>
            <a:off x="1188720" y="374904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Technologies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1"/>
          <p:cNvSpPr/>
          <p:nvPr/>
        </p:nvSpPr>
        <p:spPr>
          <a:xfrm>
            <a:off x="4114800" y="374904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Tech stack &amp; tools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22"/>
          <p:cNvSpPr/>
          <p:nvPr/>
        </p:nvSpPr>
        <p:spPr>
          <a:xfrm>
            <a:off x="457200" y="4389120"/>
            <a:ext cx="548280" cy="45684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23"/>
          <p:cNvSpPr/>
          <p:nvPr/>
        </p:nvSpPr>
        <p:spPr>
          <a:xfrm>
            <a:off x="457200" y="443484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6️⃣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4"/>
          <p:cNvSpPr/>
          <p:nvPr/>
        </p:nvSpPr>
        <p:spPr>
          <a:xfrm>
            <a:off x="1188720" y="438912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Results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5"/>
          <p:cNvSpPr/>
          <p:nvPr/>
        </p:nvSpPr>
        <p:spPr>
          <a:xfrm>
            <a:off x="4114800" y="438912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Performance metrics &amp; validation ⭐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26"/>
          <p:cNvSpPr/>
          <p:nvPr/>
        </p:nvSpPr>
        <p:spPr>
          <a:xfrm>
            <a:off x="457200" y="5029200"/>
            <a:ext cx="548280" cy="45684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27"/>
          <p:cNvSpPr/>
          <p:nvPr/>
        </p:nvSpPr>
        <p:spPr>
          <a:xfrm>
            <a:off x="457200" y="507492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7️⃣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8"/>
          <p:cNvSpPr/>
          <p:nvPr/>
        </p:nvSpPr>
        <p:spPr>
          <a:xfrm>
            <a:off x="1188720" y="502920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Comparison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29"/>
          <p:cNvSpPr/>
          <p:nvPr/>
        </p:nvSpPr>
        <p:spPr>
          <a:xfrm>
            <a:off x="4114800" y="50292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Competitive analysis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30"/>
          <p:cNvSpPr/>
          <p:nvPr/>
        </p:nvSpPr>
        <p:spPr>
          <a:xfrm>
            <a:off x="457200" y="5669280"/>
            <a:ext cx="548280" cy="45684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31"/>
          <p:cNvSpPr/>
          <p:nvPr/>
        </p:nvSpPr>
        <p:spPr>
          <a:xfrm>
            <a:off x="457200" y="5715000"/>
            <a:ext cx="54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8️⃣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2"/>
          <p:cNvSpPr/>
          <p:nvPr/>
        </p:nvSpPr>
        <p:spPr>
          <a:xfrm>
            <a:off x="1188720" y="56692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Conclusion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33"/>
          <p:cNvSpPr/>
          <p:nvPr/>
        </p:nvSpPr>
        <p:spPr>
          <a:xfrm>
            <a:off x="4114800" y="566928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Achievements &amp; future work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ounded Rectangle 34"/>
          <p:cNvSpPr/>
          <p:nvPr/>
        </p:nvSpPr>
        <p:spPr>
          <a:xfrm>
            <a:off x="457200" y="5943600"/>
            <a:ext cx="10972440" cy="63972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35"/>
          <p:cNvSpPr/>
          <p:nvPr/>
        </p:nvSpPr>
        <p:spPr>
          <a:xfrm>
            <a:off x="457200" y="603504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⭐ Key Highlights: 99.8% F1 Score | 93 ML Features | 4-Category Classification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Project Abstract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2"/>
          <p:cNvSpPr/>
          <p:nvPr/>
        </p:nvSpPr>
        <p:spPr>
          <a:xfrm>
            <a:off x="457200" y="1097280"/>
            <a:ext cx="5486040" cy="1828440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>
            <a:solidFill>
              <a:srgbClr val="ef444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640080" y="11887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🎯 Problem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4"/>
          <p:cNvSpPr/>
          <p:nvPr/>
        </p:nvSpPr>
        <p:spPr>
          <a:xfrm>
            <a:off x="640080" y="1554480"/>
            <a:ext cx="50288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3.4B phishing emails/day</a:t>
            </a:r>
            <a:br>
              <a:rPr sz="1400"/>
            </a:b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$4.88M average breach cost</a:t>
            </a:r>
            <a:br>
              <a:rPr sz="1400"/>
            </a:b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AI-generated attacks rising</a:t>
            </a:r>
            <a:br>
              <a:rPr sz="1400"/>
            </a:b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Visual spoofing undetected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5"/>
          <p:cNvSpPr/>
          <p:nvPr/>
        </p:nvSpPr>
        <p:spPr>
          <a:xfrm>
            <a:off x="6217920" y="1097280"/>
            <a:ext cx="5486040" cy="182844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6"/>
          <p:cNvSpPr/>
          <p:nvPr/>
        </p:nvSpPr>
        <p:spPr>
          <a:xfrm>
            <a:off x="6400800" y="11887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💡 Solution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7"/>
          <p:cNvSpPr/>
          <p:nvPr/>
        </p:nvSpPr>
        <p:spPr>
          <a:xfrm>
            <a:off x="6400800" y="1554480"/>
            <a:ext cx="50288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4-tier multimodal pipeline</a:t>
            </a:r>
            <a:br>
              <a:rPr sz="1400"/>
            </a:b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99.8% F1 score achieved</a:t>
            </a:r>
            <a:br>
              <a:rPr sz="1400"/>
            </a:b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IDN/Homograph detection</a:t>
            </a:r>
            <a:br>
              <a:rPr sz="1400"/>
            </a:b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Production-grade 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8"/>
          <p:cNvSpPr/>
          <p:nvPr/>
        </p:nvSpPr>
        <p:spPr>
          <a:xfrm>
            <a:off x="457200" y="3200400"/>
            <a:ext cx="2559960" cy="137124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Box 9"/>
          <p:cNvSpPr/>
          <p:nvPr/>
        </p:nvSpPr>
        <p:spPr>
          <a:xfrm>
            <a:off x="457200" y="3291840"/>
            <a:ext cx="2559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99.8%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0"/>
          <p:cNvSpPr/>
          <p:nvPr/>
        </p:nvSpPr>
        <p:spPr>
          <a:xfrm>
            <a:off x="457200" y="402336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F1 Score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11"/>
          <p:cNvSpPr/>
          <p:nvPr/>
        </p:nvSpPr>
        <p:spPr>
          <a:xfrm>
            <a:off x="3291840" y="3200400"/>
            <a:ext cx="2559960" cy="137124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12"/>
          <p:cNvSpPr/>
          <p:nvPr/>
        </p:nvSpPr>
        <p:spPr>
          <a:xfrm>
            <a:off x="3291840" y="3291840"/>
            <a:ext cx="2559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93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3"/>
          <p:cNvSpPr/>
          <p:nvPr/>
        </p:nvSpPr>
        <p:spPr>
          <a:xfrm>
            <a:off x="3291840" y="402336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Features</a:t>
            </a:r>
            <a:br>
              <a:rPr sz="1400"/>
            </a:b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(+365%)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14"/>
          <p:cNvSpPr/>
          <p:nvPr/>
        </p:nvSpPr>
        <p:spPr>
          <a:xfrm>
            <a:off x="6126480" y="3200400"/>
            <a:ext cx="2559960" cy="137124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15"/>
          <p:cNvSpPr/>
          <p:nvPr/>
        </p:nvSpPr>
        <p:spPr>
          <a:xfrm>
            <a:off x="6126480" y="3291840"/>
            <a:ext cx="2559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6"/>
          <p:cNvSpPr/>
          <p:nvPr/>
        </p:nvSpPr>
        <p:spPr>
          <a:xfrm>
            <a:off x="6126480" y="402336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Category</a:t>
            </a:r>
            <a:br>
              <a:rPr sz="1400"/>
            </a:b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Classification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ounded Rectangle 17"/>
          <p:cNvSpPr/>
          <p:nvPr/>
        </p:nvSpPr>
        <p:spPr>
          <a:xfrm>
            <a:off x="8961120" y="3200400"/>
            <a:ext cx="2559960" cy="137124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Box 18"/>
          <p:cNvSpPr/>
          <p:nvPr/>
        </p:nvSpPr>
        <p:spPr>
          <a:xfrm>
            <a:off x="8961120" y="3291840"/>
            <a:ext cx="2559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8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9"/>
          <p:cNvSpPr/>
          <p:nvPr/>
        </p:nvSpPr>
        <p:spPr>
          <a:xfrm>
            <a:off x="8961120" y="402336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CVEs</a:t>
            </a:r>
            <a:br>
              <a:rPr sz="1400"/>
            </a:b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Patched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ounded Rectangle 20"/>
          <p:cNvSpPr/>
          <p:nvPr/>
        </p:nvSpPr>
        <p:spPr>
          <a:xfrm>
            <a:off x="457200" y="4846320"/>
            <a:ext cx="10972440" cy="137124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21"/>
          <p:cNvSpPr/>
          <p:nvPr/>
        </p:nvSpPr>
        <p:spPr>
          <a:xfrm>
            <a:off x="640080" y="4937760"/>
            <a:ext cx="106066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🏆 INNOVATION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First system to combine IDN detection with AI-generated phishing classification in a production-ready platform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The Phishing Epidemic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2"/>
          <p:cNvSpPr/>
          <p:nvPr/>
        </p:nvSpPr>
        <p:spPr>
          <a:xfrm>
            <a:off x="457200" y="1097280"/>
            <a:ext cx="5303160" cy="502884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3"/>
          <p:cNvSpPr/>
          <p:nvPr/>
        </p:nvSpPr>
        <p:spPr>
          <a:xfrm>
            <a:off x="914400" y="11433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📊 By The Numbers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731520" y="182880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📧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5"/>
          <p:cNvSpPr/>
          <p:nvPr/>
        </p:nvSpPr>
        <p:spPr>
          <a:xfrm>
            <a:off x="1371600" y="182880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3.4 Billion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3657600" y="182880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emails/day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7"/>
          <p:cNvSpPr/>
          <p:nvPr/>
        </p:nvSpPr>
        <p:spPr>
          <a:xfrm>
            <a:off x="731520" y="265176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💰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1371600" y="265176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$4.88 Million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9"/>
          <p:cNvSpPr/>
          <p:nvPr/>
        </p:nvSpPr>
        <p:spPr>
          <a:xfrm>
            <a:off x="3657600" y="265176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avg cost/breach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731520" y="347472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📈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1371600" y="347472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+1,265%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3657600" y="347472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AI phishing surge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731520" y="429768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🎭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14"/>
          <p:cNvSpPr/>
          <p:nvPr/>
        </p:nvSpPr>
        <p:spPr>
          <a:xfrm>
            <a:off x="1371600" y="429768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82.6%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5"/>
          <p:cNvSpPr/>
          <p:nvPr/>
        </p:nvSpPr>
        <p:spPr>
          <a:xfrm>
            <a:off x="3657600" y="429768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contain AI content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16"/>
          <p:cNvSpPr/>
          <p:nvPr/>
        </p:nvSpPr>
        <p:spPr>
          <a:xfrm>
            <a:off x="731520" y="512064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⚠️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7"/>
          <p:cNvSpPr/>
          <p:nvPr/>
        </p:nvSpPr>
        <p:spPr>
          <a:xfrm>
            <a:off x="1371600" y="512064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24.5%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18"/>
          <p:cNvSpPr/>
          <p:nvPr/>
        </p:nvSpPr>
        <p:spPr>
          <a:xfrm>
            <a:off x="3657600" y="512064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human detection rate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19"/>
          <p:cNvSpPr/>
          <p:nvPr/>
        </p:nvSpPr>
        <p:spPr>
          <a:xfrm>
            <a:off x="640080" y="576072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Sources: APWG, IBM, KnowBe4 (2024-2025)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ounded Rectangle 20"/>
          <p:cNvSpPr/>
          <p:nvPr/>
        </p:nvSpPr>
        <p:spPr>
          <a:xfrm>
            <a:off x="6217920" y="1097280"/>
            <a:ext cx="5303160" cy="5028840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>
            <a:solidFill>
              <a:srgbClr val="ef444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21"/>
          <p:cNvSpPr/>
          <p:nvPr/>
        </p:nvSpPr>
        <p:spPr>
          <a:xfrm>
            <a:off x="6629400" y="11887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⚠️ Attack Evolution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2"/>
          <p:cNvSpPr/>
          <p:nvPr/>
        </p:nvSpPr>
        <p:spPr>
          <a:xfrm>
            <a:off x="6400800" y="182880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2023: Basic Phishing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3"/>
          <p:cNvSpPr/>
          <p:nvPr/>
        </p:nvSpPr>
        <p:spPr>
          <a:xfrm>
            <a:off x="6583680" y="2194560"/>
            <a:ext cx="475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✅ Detectable by traditional systems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24"/>
          <p:cNvSpPr/>
          <p:nvPr/>
        </p:nvSpPr>
        <p:spPr>
          <a:xfrm>
            <a:off x="6400800" y="310896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2024: AI-Generated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5"/>
          <p:cNvSpPr/>
          <p:nvPr/>
        </p:nvSpPr>
        <p:spPr>
          <a:xfrm>
            <a:off x="6583680" y="3474720"/>
            <a:ext cx="475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⚠️ Perfect grammar, no typos</a:t>
            </a:r>
            <a:br>
              <a:rPr sz="1200"/>
            </a:b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❌ Traditional ML fails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26"/>
          <p:cNvSpPr/>
          <p:nvPr/>
        </p:nvSpPr>
        <p:spPr>
          <a:xfrm>
            <a:off x="6400800" y="43891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2025: Visual Spoofing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27"/>
          <p:cNvSpPr/>
          <p:nvPr/>
        </p:nvSpPr>
        <p:spPr>
          <a:xfrm>
            <a:off x="6583680" y="4754880"/>
            <a:ext cx="475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🔤 IDN Attacks (Cyrillic)</a:t>
            </a:r>
            <a:br>
              <a:rPr sz="1200"/>
            </a:b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❌ Invisible to users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28"/>
          <p:cNvSpPr/>
          <p:nvPr/>
        </p:nvSpPr>
        <p:spPr>
          <a:xfrm>
            <a:off x="6400800" y="530352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🆘 Next-Gen Detection NEEDED NOW!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Critical Gaps in Current Solutions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2"/>
          <p:cNvSpPr/>
          <p:nvPr/>
        </p:nvSpPr>
        <p:spPr>
          <a:xfrm>
            <a:off x="457200" y="1097280"/>
            <a:ext cx="3565800" cy="201132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3"/>
          <p:cNvSpPr/>
          <p:nvPr/>
        </p:nvSpPr>
        <p:spPr>
          <a:xfrm>
            <a:off x="457200" y="118872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❌ GAP 1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4"/>
          <p:cNvSpPr/>
          <p:nvPr/>
        </p:nvSpPr>
        <p:spPr>
          <a:xfrm>
            <a:off x="548640" y="1737360"/>
            <a:ext cx="33829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No IDN/</a:t>
            </a:r>
            <a:br>
              <a:rPr sz="1600"/>
            </a:b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Homograph</a:t>
            </a:r>
            <a:br>
              <a:rPr sz="1600"/>
            </a:b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Protection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Rounded Rectangle 5"/>
          <p:cNvSpPr/>
          <p:nvPr/>
        </p:nvSpPr>
        <p:spPr>
          <a:xfrm>
            <a:off x="4297680" y="1097280"/>
            <a:ext cx="3565800" cy="201132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TextBox 6"/>
          <p:cNvSpPr/>
          <p:nvPr/>
        </p:nvSpPr>
        <p:spPr>
          <a:xfrm>
            <a:off x="4297680" y="118872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❌ GAP 2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7"/>
          <p:cNvSpPr/>
          <p:nvPr/>
        </p:nvSpPr>
        <p:spPr>
          <a:xfrm>
            <a:off x="4389120" y="1737360"/>
            <a:ext cx="33829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No AI-Generated</a:t>
            </a:r>
            <a:br>
              <a:rPr sz="1600"/>
            </a:b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Detection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8"/>
          <p:cNvSpPr/>
          <p:nvPr/>
        </p:nvSpPr>
        <p:spPr>
          <a:xfrm>
            <a:off x="8138160" y="1097280"/>
            <a:ext cx="3565800" cy="201132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8138160" y="1188720"/>
            <a:ext cx="3565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❌ GAP 3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0"/>
          <p:cNvSpPr/>
          <p:nvPr/>
        </p:nvSpPr>
        <p:spPr>
          <a:xfrm>
            <a:off x="8229600" y="1737360"/>
            <a:ext cx="33829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Binary Only</a:t>
            </a:r>
            <a:br>
              <a:rPr sz="1600"/>
            </a:b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Classification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1"/>
          <p:cNvSpPr/>
          <p:nvPr/>
        </p:nvSpPr>
        <p:spPr>
          <a:xfrm>
            <a:off x="457200" y="3383280"/>
            <a:ext cx="10972440" cy="137124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12"/>
          <p:cNvSpPr/>
          <p:nvPr/>
        </p:nvSpPr>
        <p:spPr>
          <a:xfrm>
            <a:off x="457200" y="34747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❌ GAP 4: Inadequate Security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13"/>
          <p:cNvSpPr/>
          <p:nvPr/>
        </p:nvSpPr>
        <p:spPr>
          <a:xfrm>
            <a:off x="731520" y="39319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• No authentication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14"/>
          <p:cNvSpPr/>
          <p:nvPr/>
        </p:nvSpPr>
        <p:spPr>
          <a:xfrm>
            <a:off x="2560320" y="39319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• Plaintext credentials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15"/>
          <p:cNvSpPr/>
          <p:nvPr/>
        </p:nvSpPr>
        <p:spPr>
          <a:xfrm>
            <a:off x="4389120" y="39319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• No input validation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16"/>
          <p:cNvSpPr/>
          <p:nvPr/>
        </p:nvSpPr>
        <p:spPr>
          <a:xfrm>
            <a:off x="6217920" y="39319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• No rate limiting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17"/>
          <p:cNvSpPr/>
          <p:nvPr/>
        </p:nvSpPr>
        <p:spPr>
          <a:xfrm>
            <a:off x="8046720" y="39319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• No SSRF protection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18"/>
          <p:cNvSpPr/>
          <p:nvPr/>
        </p:nvSpPr>
        <p:spPr>
          <a:xfrm>
            <a:off x="9875520" y="39319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• Not production-ready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ounded Rectangle 19"/>
          <p:cNvSpPr/>
          <p:nvPr/>
        </p:nvSpPr>
        <p:spPr>
          <a:xfrm>
            <a:off x="457200" y="5029200"/>
            <a:ext cx="10972440" cy="137124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Box 20"/>
          <p:cNvSpPr/>
          <p:nvPr/>
        </p:nvSpPr>
        <p:spPr>
          <a:xfrm>
            <a:off x="640080" y="51206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🔬 RESEARCH QUESTION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21"/>
          <p:cNvSpPr/>
          <p:nvPr/>
        </p:nvSpPr>
        <p:spPr>
          <a:xfrm>
            <a:off x="640080" y="548640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How can we build a phishing detection system that addresses IDN attacks, AI-generated content, provides granular classification, AND meets enterprise security standards?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Modern Phishing Attack Vectors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🎣 TRADITIONAL ATTACKS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Email spoofing • Typosquatting • Fake login pages • Urgency tactics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2000"/>
            </a:br>
            <a:r>
              <a:rPr b="1" lang="en-US" sz="20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🤖 AI-POWERED ATTACKS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ChatGPT-generated content • Deepfake voice/video • Perfect grammar • Adaptive social engineering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2000"/>
            </a:br>
            <a:r>
              <a:rPr b="1" lang="en-US" sz="20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🌐 TECHNICAL ATTACKS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IDN homographs • SSL/TLS abuse • Phishing kits (Gophish, Evilginx) • Man-in-the-middle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Current Solutions &amp; Limitations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457200" y="13716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Feature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3108960" y="13716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PhishTank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4"/>
          <p:cNvSpPr/>
          <p:nvPr/>
        </p:nvSpPr>
        <p:spPr>
          <a:xfrm>
            <a:off x="5760720" y="13716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Google SB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5"/>
          <p:cNvSpPr/>
          <p:nvPr/>
        </p:nvSpPr>
        <p:spPr>
          <a:xfrm>
            <a:off x="8412480" y="13716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Traditional ML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6"/>
          <p:cNvSpPr/>
          <p:nvPr/>
        </p:nvSpPr>
        <p:spPr>
          <a:xfrm>
            <a:off x="11064240" y="13716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Phishing Guard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7"/>
          <p:cNvSpPr/>
          <p:nvPr/>
        </p:nvSpPr>
        <p:spPr>
          <a:xfrm>
            <a:off x="457200" y="18288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Real-time Analysis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8"/>
          <p:cNvSpPr/>
          <p:nvPr/>
        </p:nvSpPr>
        <p:spPr>
          <a:xfrm>
            <a:off x="3108960" y="18288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❌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9"/>
          <p:cNvSpPr/>
          <p:nvPr/>
        </p:nvSpPr>
        <p:spPr>
          <a:xfrm>
            <a:off x="5760720" y="18288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❌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10"/>
          <p:cNvSpPr/>
          <p:nvPr/>
        </p:nvSpPr>
        <p:spPr>
          <a:xfrm>
            <a:off x="8412480" y="18288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✅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1"/>
          <p:cNvSpPr/>
          <p:nvPr/>
        </p:nvSpPr>
        <p:spPr>
          <a:xfrm>
            <a:off x="11064240" y="18288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✅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57200" y="22860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AI Detection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3"/>
          <p:cNvSpPr/>
          <p:nvPr/>
        </p:nvSpPr>
        <p:spPr>
          <a:xfrm>
            <a:off x="3108960" y="22860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❌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4"/>
          <p:cNvSpPr/>
          <p:nvPr/>
        </p:nvSpPr>
        <p:spPr>
          <a:xfrm>
            <a:off x="5760720" y="22860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❌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5"/>
          <p:cNvSpPr/>
          <p:nvPr/>
        </p:nvSpPr>
        <p:spPr>
          <a:xfrm>
            <a:off x="8412480" y="22860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❌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6"/>
          <p:cNvSpPr/>
          <p:nvPr/>
        </p:nvSpPr>
        <p:spPr>
          <a:xfrm>
            <a:off x="11064240" y="22860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✅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17"/>
          <p:cNvSpPr/>
          <p:nvPr/>
        </p:nvSpPr>
        <p:spPr>
          <a:xfrm>
            <a:off x="457200" y="27432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IDN Protection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8"/>
          <p:cNvSpPr/>
          <p:nvPr/>
        </p:nvSpPr>
        <p:spPr>
          <a:xfrm>
            <a:off x="3108960" y="27432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❌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9"/>
          <p:cNvSpPr/>
          <p:nvPr/>
        </p:nvSpPr>
        <p:spPr>
          <a:xfrm>
            <a:off x="5760720" y="27432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❌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20"/>
          <p:cNvSpPr/>
          <p:nvPr/>
        </p:nvSpPr>
        <p:spPr>
          <a:xfrm>
            <a:off x="8412480" y="27432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❌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21"/>
          <p:cNvSpPr/>
          <p:nvPr/>
        </p:nvSpPr>
        <p:spPr>
          <a:xfrm>
            <a:off x="11064240" y="27432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✅⭐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22"/>
          <p:cNvSpPr/>
          <p:nvPr/>
        </p:nvSpPr>
        <p:spPr>
          <a:xfrm>
            <a:off x="457200" y="32004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4-Category Output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23"/>
          <p:cNvSpPr/>
          <p:nvPr/>
        </p:nvSpPr>
        <p:spPr>
          <a:xfrm>
            <a:off x="3108960" y="32004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❌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24"/>
          <p:cNvSpPr/>
          <p:nvPr/>
        </p:nvSpPr>
        <p:spPr>
          <a:xfrm>
            <a:off x="5760720" y="32004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❌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25"/>
          <p:cNvSpPr/>
          <p:nvPr/>
        </p:nvSpPr>
        <p:spPr>
          <a:xfrm>
            <a:off x="8412480" y="32004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❌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26"/>
          <p:cNvSpPr/>
          <p:nvPr/>
        </p:nvSpPr>
        <p:spPr>
          <a:xfrm>
            <a:off x="11064240" y="32004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✅⭐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27"/>
          <p:cNvSpPr/>
          <p:nvPr/>
        </p:nvSpPr>
        <p:spPr>
          <a:xfrm>
            <a:off x="457200" y="36576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93 ML Features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28"/>
          <p:cNvSpPr/>
          <p:nvPr/>
        </p:nvSpPr>
        <p:spPr>
          <a:xfrm>
            <a:off x="3108960" y="36576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29"/>
          <p:cNvSpPr/>
          <p:nvPr/>
        </p:nvSpPr>
        <p:spPr>
          <a:xfrm>
            <a:off x="5760720" y="36576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30"/>
          <p:cNvSpPr/>
          <p:nvPr/>
        </p:nvSpPr>
        <p:spPr>
          <a:xfrm>
            <a:off x="8412480" y="36576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~20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31"/>
          <p:cNvSpPr/>
          <p:nvPr/>
        </p:nvSpPr>
        <p:spPr>
          <a:xfrm>
            <a:off x="11064240" y="36576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fbbf24"/>
                </a:solidFill>
                <a:effectLst/>
                <a:uFillTx/>
                <a:latin typeface="Calibri"/>
              </a:rPr>
              <a:t>93⭐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32"/>
          <p:cNvSpPr/>
          <p:nvPr/>
        </p:nvSpPr>
        <p:spPr>
          <a:xfrm>
            <a:off x="457200" y="41148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Enterprise Security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33"/>
          <p:cNvSpPr/>
          <p:nvPr/>
        </p:nvSpPr>
        <p:spPr>
          <a:xfrm>
            <a:off x="3108960" y="41148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N/A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34"/>
          <p:cNvSpPr/>
          <p:nvPr/>
        </p:nvSpPr>
        <p:spPr>
          <a:xfrm>
            <a:off x="5760720" y="41148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Enterprise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35"/>
          <p:cNvSpPr/>
          <p:nvPr/>
        </p:nvSpPr>
        <p:spPr>
          <a:xfrm>
            <a:off x="8412480" y="41148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Basic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36"/>
          <p:cNvSpPr/>
          <p:nvPr/>
        </p:nvSpPr>
        <p:spPr>
          <a:xfrm>
            <a:off x="11064240" y="411480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✅⭐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The Research Gap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CURRENT SYSTEMS: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20 Features • Binary Classification (Safe/Unsafe) • No Security Hardening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IDEAL SYSTEM: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93 Features • 4-Category Classification • Enterprise 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SPECIFIC GAPS IDENTIFIED: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1. Visual Spoofing: No Unicode/IDN detection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 AI Content: Cannot detect GPT-generated attacks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 Granularity: Binary only (no threat levels)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4. Security: Not production-ready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600"/>
            </a:br>
            <a:r>
              <a:rPr b="1" lang="en-US" sz="16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✅ OUR CONTRIBUTION: First unified system addressing ALL gaps!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Project Objectives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ounded Rectangle 2"/>
          <p:cNvSpPr/>
          <p:nvPr/>
        </p:nvSpPr>
        <p:spPr>
          <a:xfrm>
            <a:off x="457200" y="1188720"/>
            <a:ext cx="10972440" cy="109692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3"/>
          <p:cNvSpPr/>
          <p:nvPr/>
        </p:nvSpPr>
        <p:spPr>
          <a:xfrm>
            <a:off x="640080" y="128016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🎯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4"/>
          <p:cNvSpPr/>
          <p:nvPr/>
        </p:nvSpPr>
        <p:spPr>
          <a:xfrm>
            <a:off x="1371600" y="12801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Build 4-Tier Detection Pipeline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5"/>
          <p:cNvSpPr/>
          <p:nvPr/>
        </p:nvSpPr>
        <p:spPr>
          <a:xfrm>
            <a:off x="1371600" y="169164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Static analysis, ML classification, MLLM reasoning, Web scraping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Rounded Rectangle 6"/>
          <p:cNvSpPr/>
          <p:nvPr/>
        </p:nvSpPr>
        <p:spPr>
          <a:xfrm>
            <a:off x="457200" y="2468880"/>
            <a:ext cx="10972440" cy="109692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TextBox 7"/>
          <p:cNvSpPr/>
          <p:nvPr/>
        </p:nvSpPr>
        <p:spPr>
          <a:xfrm>
            <a:off x="640080" y="256032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🤖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8"/>
          <p:cNvSpPr/>
          <p:nvPr/>
        </p:nvSpPr>
        <p:spPr>
          <a:xfrm>
            <a:off x="1371600" y="256032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Detect AI-Generated Phishing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9"/>
          <p:cNvSpPr/>
          <p:nvPr/>
        </p:nvSpPr>
        <p:spPr>
          <a:xfrm>
            <a:off x="1371600" y="297180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MLLM integration, Linguistic analysis, Pattern recognition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Rounded Rectangle 10"/>
          <p:cNvSpPr/>
          <p:nvPr/>
        </p:nvSpPr>
        <p:spPr>
          <a:xfrm>
            <a:off x="457200" y="3749040"/>
            <a:ext cx="10972440" cy="109692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Box 11"/>
          <p:cNvSpPr/>
          <p:nvPr/>
        </p:nvSpPr>
        <p:spPr>
          <a:xfrm>
            <a:off x="640080" y="384048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🔤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12"/>
          <p:cNvSpPr/>
          <p:nvPr/>
        </p:nvSpPr>
        <p:spPr>
          <a:xfrm>
            <a:off x="1371600" y="384048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Prevent IDN/Homograph Attacks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13"/>
          <p:cNvSpPr/>
          <p:nvPr/>
        </p:nvSpPr>
        <p:spPr>
          <a:xfrm>
            <a:off x="1371600" y="425196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Punycode detection, Mixed script analysis, Confusable mapping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ounded Rectangle 14"/>
          <p:cNvSpPr/>
          <p:nvPr/>
        </p:nvSpPr>
        <p:spPr>
          <a:xfrm>
            <a:off x="457200" y="5029200"/>
            <a:ext cx="10972440" cy="109692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15"/>
          <p:cNvSpPr/>
          <p:nvPr/>
        </p:nvSpPr>
        <p:spPr>
          <a:xfrm>
            <a:off x="640080" y="512064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🔒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16"/>
          <p:cNvSpPr/>
          <p:nvPr/>
        </p:nvSpPr>
        <p:spPr>
          <a:xfrm>
            <a:off x="1371600" y="512064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Production-Grade Security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17"/>
          <p:cNvSpPr/>
          <p:nvPr/>
        </p:nvSpPr>
        <p:spPr>
          <a:xfrm>
            <a:off x="1371600" y="553212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JWT authentication, Rate limiting, SSRF protection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5 Key Innovations (Unique Selling Points)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ounded Rectangle 2"/>
          <p:cNvSpPr/>
          <p:nvPr/>
        </p:nvSpPr>
        <p:spPr>
          <a:xfrm>
            <a:off x="457200" y="1097280"/>
            <a:ext cx="10972440" cy="86832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3"/>
          <p:cNvSpPr/>
          <p:nvPr/>
        </p:nvSpPr>
        <p:spPr>
          <a:xfrm>
            <a:off x="640080" y="1188720"/>
            <a:ext cx="106066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🥇 IDN Detection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FIRST academic implementation with full Unicode analysis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Rounded Rectangle 4"/>
          <p:cNvSpPr/>
          <p:nvPr/>
        </p:nvSpPr>
        <p:spPr>
          <a:xfrm>
            <a:off x="457200" y="2103120"/>
            <a:ext cx="10972440" cy="86832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TextBox 5"/>
          <p:cNvSpPr/>
          <p:nvPr/>
        </p:nvSpPr>
        <p:spPr>
          <a:xfrm>
            <a:off x="640080" y="2194560"/>
            <a:ext cx="106066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🤖 AI-Generated Classification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Addresses ChatGPT-powered threat landscape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ounded Rectangle 6"/>
          <p:cNvSpPr/>
          <p:nvPr/>
        </p:nvSpPr>
        <p:spPr>
          <a:xfrm>
            <a:off x="457200" y="3108960"/>
            <a:ext cx="10972440" cy="86832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7"/>
          <p:cNvSpPr/>
          <p:nvPr/>
        </p:nvSpPr>
        <p:spPr>
          <a:xfrm>
            <a:off x="640080" y="3200400"/>
            <a:ext cx="106066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📊 365% Feature Improvement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93 features vs industry standard 20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ounded Rectangle 8"/>
          <p:cNvSpPr/>
          <p:nvPr/>
        </p:nvSpPr>
        <p:spPr>
          <a:xfrm>
            <a:off x="457200" y="4114800"/>
            <a:ext cx="10972440" cy="86832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9"/>
          <p:cNvSpPr/>
          <p:nvPr/>
        </p:nvSpPr>
        <p:spPr>
          <a:xfrm>
            <a:off x="640080" y="4206240"/>
            <a:ext cx="106066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🔒 Enterprise Security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8 CVEs patched, production-ready hardening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ounded Rectangle 10"/>
          <p:cNvSpPr/>
          <p:nvPr/>
        </p:nvSpPr>
        <p:spPr>
          <a:xfrm>
            <a:off x="457200" y="5120640"/>
            <a:ext cx="10972440" cy="86832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11"/>
          <p:cNvSpPr/>
          <p:nvPr/>
        </p:nvSpPr>
        <p:spPr>
          <a:xfrm>
            <a:off x="640080" y="5212080"/>
            <a:ext cx="106066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🌐 Multi-Modal Architecture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4-tier ensemble with latency optimization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System Architecture - 4 Layers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ounded Rectangle 2"/>
          <p:cNvSpPr/>
          <p:nvPr/>
        </p:nvSpPr>
        <p:spPr>
          <a:xfrm>
            <a:off x="457200" y="1097280"/>
            <a:ext cx="10972440" cy="109692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25400"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3"/>
          <p:cNvSpPr/>
          <p:nvPr/>
        </p:nvSpPr>
        <p:spPr>
          <a:xfrm>
            <a:off x="640080" y="118872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LAYER 1: USER INTERFACES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4"/>
          <p:cNvSpPr/>
          <p:nvPr/>
        </p:nvSpPr>
        <p:spPr>
          <a:xfrm>
            <a:off x="640080" y="155448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CLI • Web API • Browser Extension • Desktop GUI • Email Scanner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ounded Rectangle 5"/>
          <p:cNvSpPr/>
          <p:nvPr/>
        </p:nvSpPr>
        <p:spPr>
          <a:xfrm>
            <a:off x="457200" y="2377440"/>
            <a:ext cx="10972440" cy="109692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 w="25400"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6"/>
          <p:cNvSpPr/>
          <p:nvPr/>
        </p:nvSpPr>
        <p:spPr>
          <a:xfrm>
            <a:off x="640080" y="246888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LAYER 2: API &amp; SECURITY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"/>
          <p:cNvSpPr/>
          <p:nvPr/>
        </p:nvSpPr>
        <p:spPr>
          <a:xfrm>
            <a:off x="640080" y="283464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FastAPI • JWT Auth • Rate Limiting • Input Validation • CORS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ounded Rectangle 8"/>
          <p:cNvSpPr/>
          <p:nvPr/>
        </p:nvSpPr>
        <p:spPr>
          <a:xfrm>
            <a:off x="457200" y="3657600"/>
            <a:ext cx="10972440" cy="1096920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25400">
            <a:solidFill>
              <a:srgbClr val="ef444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9"/>
          <p:cNvSpPr/>
          <p:nvPr/>
        </p:nvSpPr>
        <p:spPr>
          <a:xfrm>
            <a:off x="640080" y="37490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LAYER 3: DETECTION PIPELINE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10"/>
          <p:cNvSpPr/>
          <p:nvPr/>
        </p:nvSpPr>
        <p:spPr>
          <a:xfrm>
            <a:off x="640080" y="411480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Tier 1: Static • Tier 2: ML • Tier 3: MLLM • Tier 4: Scraping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ounded Rectangle 11"/>
          <p:cNvSpPr/>
          <p:nvPr/>
        </p:nvSpPr>
        <p:spPr>
          <a:xfrm>
            <a:off x="457200" y="4937760"/>
            <a:ext cx="10972440" cy="1096920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25400"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12"/>
          <p:cNvSpPr/>
          <p:nvPr/>
        </p:nvSpPr>
        <p:spPr>
          <a:xfrm>
            <a:off x="640080" y="502920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LAYER 4: DATA &amp; MODELS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13"/>
          <p:cNvSpPr/>
          <p:nvPr/>
        </p:nvSpPr>
        <p:spPr>
          <a:xfrm>
            <a:off x="640080" y="539496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Random Forest • MLflow Registry • Redis Cache • Feature Extractor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4-Tier Multimodal Detection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Rounded Rectangle 2"/>
          <p:cNvSpPr/>
          <p:nvPr/>
        </p:nvSpPr>
        <p:spPr>
          <a:xfrm>
            <a:off x="457200" y="1097280"/>
            <a:ext cx="10972440" cy="100548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640080" y="118872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TIER 1: STATIC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4"/>
          <p:cNvSpPr/>
          <p:nvPr/>
        </p:nvSpPr>
        <p:spPr>
          <a:xfrm>
            <a:off x="4572000" y="118872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~10ms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5"/>
          <p:cNvSpPr/>
          <p:nvPr/>
        </p:nvSpPr>
        <p:spPr>
          <a:xfrm>
            <a:off x="640080" y="160020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URL parsing • Typosquatting • IDN detection • Whitelist check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ounded Rectangle 6"/>
          <p:cNvSpPr/>
          <p:nvPr/>
        </p:nvSpPr>
        <p:spPr>
          <a:xfrm>
            <a:off x="457200" y="2240280"/>
            <a:ext cx="10972440" cy="10054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7"/>
          <p:cNvSpPr/>
          <p:nvPr/>
        </p:nvSpPr>
        <p:spPr>
          <a:xfrm>
            <a:off x="640080" y="233172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TIER 2: ML CLASSIFIER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8"/>
          <p:cNvSpPr/>
          <p:nvPr/>
        </p:nvSpPr>
        <p:spPr>
          <a:xfrm>
            <a:off x="4572000" y="233172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~100ms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9"/>
          <p:cNvSpPr/>
          <p:nvPr/>
        </p:nvSpPr>
        <p:spPr>
          <a:xfrm>
            <a:off x="640080" y="274320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93 features • Random Forest • Probability • Feature importance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ounded Rectangle 10"/>
          <p:cNvSpPr/>
          <p:nvPr/>
        </p:nvSpPr>
        <p:spPr>
          <a:xfrm>
            <a:off x="457200" y="3383280"/>
            <a:ext cx="10972440" cy="100548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11"/>
          <p:cNvSpPr/>
          <p:nvPr/>
        </p:nvSpPr>
        <p:spPr>
          <a:xfrm>
            <a:off x="640080" y="347472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TIER 3: MLLM ANALYSIS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12"/>
          <p:cNvSpPr/>
          <p:nvPr/>
        </p:nvSpPr>
        <p:spPr>
          <a:xfrm>
            <a:off x="4572000" y="347472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~2s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3"/>
          <p:cNvSpPr/>
          <p:nvPr/>
        </p:nvSpPr>
        <p:spPr>
          <a:xfrm>
            <a:off x="640080" y="388620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Qwen2.5-3B • AI detection • Linguistic patterns • Optional tier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Rounded Rectangle 14"/>
          <p:cNvSpPr/>
          <p:nvPr/>
        </p:nvSpPr>
        <p:spPr>
          <a:xfrm>
            <a:off x="457200" y="4526280"/>
            <a:ext cx="10972440" cy="10054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5"/>
          <p:cNvSpPr/>
          <p:nvPr/>
        </p:nvSpPr>
        <p:spPr>
          <a:xfrm>
            <a:off x="640080" y="461772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TIER 4: WEB SCRAPING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6"/>
          <p:cNvSpPr/>
          <p:nvPr/>
        </p:nvSpPr>
        <p:spPr>
          <a:xfrm>
            <a:off x="4572000" y="461772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Variable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17"/>
          <p:cNvSpPr/>
          <p:nvPr/>
        </p:nvSpPr>
        <p:spPr>
          <a:xfrm>
            <a:off x="640080" y="502920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Playwright • Screenshots • Form analysis • Toolkit fingerprint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93 ML Features - 365% Improvement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Rounded Rectangle 2"/>
          <p:cNvSpPr/>
          <p:nvPr/>
        </p:nvSpPr>
        <p:spPr>
          <a:xfrm>
            <a:off x="457200" y="1188720"/>
            <a:ext cx="5028840" cy="5482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TextBox 3"/>
          <p:cNvSpPr/>
          <p:nvPr/>
        </p:nvSpPr>
        <p:spPr>
          <a:xfrm>
            <a:off x="640080" y="12801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IDN/Unicode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Box 4"/>
          <p:cNvSpPr/>
          <p:nvPr/>
        </p:nvSpPr>
        <p:spPr>
          <a:xfrm>
            <a:off x="4114800" y="1280160"/>
            <a:ext cx="1188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11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Rounded Rectangle 5"/>
          <p:cNvSpPr/>
          <p:nvPr/>
        </p:nvSpPr>
        <p:spPr>
          <a:xfrm>
            <a:off x="457200" y="1828800"/>
            <a:ext cx="5028840" cy="5482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TextBox 6"/>
          <p:cNvSpPr/>
          <p:nvPr/>
        </p:nvSpPr>
        <p:spPr>
          <a:xfrm>
            <a:off x="640080" y="192024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Host Analysis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7"/>
          <p:cNvSpPr/>
          <p:nvPr/>
        </p:nvSpPr>
        <p:spPr>
          <a:xfrm>
            <a:off x="4114800" y="1920240"/>
            <a:ext cx="1188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10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Rounded Rectangle 8"/>
          <p:cNvSpPr/>
          <p:nvPr/>
        </p:nvSpPr>
        <p:spPr>
          <a:xfrm>
            <a:off x="457200" y="2468880"/>
            <a:ext cx="5028840" cy="54828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9"/>
          <p:cNvSpPr/>
          <p:nvPr/>
        </p:nvSpPr>
        <p:spPr>
          <a:xfrm>
            <a:off x="640080" y="25603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URL Patterns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0"/>
          <p:cNvSpPr/>
          <p:nvPr/>
        </p:nvSpPr>
        <p:spPr>
          <a:xfrm>
            <a:off x="4114800" y="2560320"/>
            <a:ext cx="1188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28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Rounded Rectangle 11"/>
          <p:cNvSpPr/>
          <p:nvPr/>
        </p:nvSpPr>
        <p:spPr>
          <a:xfrm>
            <a:off x="457200" y="3108960"/>
            <a:ext cx="5028840" cy="54828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TextBox 12"/>
          <p:cNvSpPr/>
          <p:nvPr/>
        </p:nvSpPr>
        <p:spPr>
          <a:xfrm>
            <a:off x="640080" y="32004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Box 13"/>
          <p:cNvSpPr/>
          <p:nvPr/>
        </p:nvSpPr>
        <p:spPr>
          <a:xfrm>
            <a:off x="4114800" y="3200400"/>
            <a:ext cx="1188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6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ounded Rectangle 14"/>
          <p:cNvSpPr/>
          <p:nvPr/>
        </p:nvSpPr>
        <p:spPr>
          <a:xfrm>
            <a:off x="457200" y="3749040"/>
            <a:ext cx="5028840" cy="54828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TextBox 15"/>
          <p:cNvSpPr/>
          <p:nvPr/>
        </p:nvSpPr>
        <p:spPr>
          <a:xfrm>
            <a:off x="640080" y="384048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TLS/SSL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Box 16"/>
          <p:cNvSpPr/>
          <p:nvPr/>
        </p:nvSpPr>
        <p:spPr>
          <a:xfrm>
            <a:off x="4114800" y="3840480"/>
            <a:ext cx="1188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11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Rounded Rectangle 17"/>
          <p:cNvSpPr/>
          <p:nvPr/>
        </p:nvSpPr>
        <p:spPr>
          <a:xfrm>
            <a:off x="457200" y="4389120"/>
            <a:ext cx="5028840" cy="548280"/>
          </a:xfrm>
          <a:prstGeom prst="roundRect">
            <a:avLst>
              <a:gd name="adj" fmla="val 16667"/>
            </a:avLst>
          </a:prstGeom>
          <a:solidFill>
            <a:srgbClr val="ec48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TextBox 18"/>
          <p:cNvSpPr/>
          <p:nvPr/>
        </p:nvSpPr>
        <p:spPr>
          <a:xfrm>
            <a:off x="640080" y="44805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Composite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9"/>
          <p:cNvSpPr/>
          <p:nvPr/>
        </p:nvSpPr>
        <p:spPr>
          <a:xfrm>
            <a:off x="4114800" y="4480560"/>
            <a:ext cx="1188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Rounded Rectangle 20"/>
          <p:cNvSpPr/>
          <p:nvPr/>
        </p:nvSpPr>
        <p:spPr>
          <a:xfrm>
            <a:off x="457200" y="5029200"/>
            <a:ext cx="5028840" cy="548280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21"/>
          <p:cNvSpPr/>
          <p:nvPr/>
        </p:nvSpPr>
        <p:spPr>
          <a:xfrm>
            <a:off x="640080" y="512064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Other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22"/>
          <p:cNvSpPr/>
          <p:nvPr/>
        </p:nvSpPr>
        <p:spPr>
          <a:xfrm>
            <a:off x="4114800" y="5120640"/>
            <a:ext cx="1188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24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ounded Rectangle 23"/>
          <p:cNvSpPr/>
          <p:nvPr/>
        </p:nvSpPr>
        <p:spPr>
          <a:xfrm>
            <a:off x="5943600" y="1188720"/>
            <a:ext cx="5486040" cy="182844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24"/>
          <p:cNvSpPr/>
          <p:nvPr/>
        </p:nvSpPr>
        <p:spPr>
          <a:xfrm>
            <a:off x="6126480" y="1280160"/>
            <a:ext cx="51202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COMPARISON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400"/>
            </a:b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Traditional: 20 features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Phishing Guard: 93 features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2000"/>
            </a:br>
            <a:r>
              <a:rPr b="1" lang="en-US" sz="2000" strike="noStrike" u="none">
                <a:solidFill>
                  <a:srgbClr val="fbbf24"/>
                </a:solidFill>
                <a:effectLst/>
                <a:uFillTx/>
                <a:latin typeface="Calibri"/>
              </a:rPr>
              <a:t>+365% Improvement!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ounded Rectangle 25"/>
          <p:cNvSpPr/>
          <p:nvPr/>
        </p:nvSpPr>
        <p:spPr>
          <a:xfrm>
            <a:off x="5943600" y="3200400"/>
            <a:ext cx="5486040" cy="320004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26"/>
          <p:cNvSpPr/>
          <p:nvPr/>
        </p:nvSpPr>
        <p:spPr>
          <a:xfrm>
            <a:off x="6126480" y="3291840"/>
            <a:ext cx="512028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KEY NOVEL FEATURES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has_punycode - IDN detection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mixed_scripts - Multi-script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confusable_count - Lookalikes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hsts_enabled - Security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ct_logs_found - Transparency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domain_age_days - Temporal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IDN/Homograph Attack Detection - NOVEL! ⭐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Rounded Rectangle 2"/>
          <p:cNvSpPr/>
          <p:nvPr/>
        </p:nvSpPr>
        <p:spPr>
          <a:xfrm>
            <a:off x="457200" y="1097280"/>
            <a:ext cx="10972440" cy="1371240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>
            <a:solidFill>
              <a:srgbClr val="ef444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3"/>
          <p:cNvSpPr/>
          <p:nvPr/>
        </p:nvSpPr>
        <p:spPr>
          <a:xfrm>
            <a:off x="640080" y="1188720"/>
            <a:ext cx="106066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THE PROBLEM: Visual Spoofing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Legitimate: paypal.com (ASCII)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Malicious: раураl.com (Cyrillic 'р' and 'а') - LOOKS IDENTICAL!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4"/>
          <p:cNvSpPr/>
          <p:nvPr/>
        </p:nvSpPr>
        <p:spPr>
          <a:xfrm>
            <a:off x="457200" y="2651760"/>
            <a:ext cx="10972440" cy="365724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5"/>
          <p:cNvSpPr/>
          <p:nvPr/>
        </p:nvSpPr>
        <p:spPr>
          <a:xfrm>
            <a:off x="640080" y="2743200"/>
            <a:ext cx="1060668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OUR SOLUTION: 11 Specialized IDN Features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1. has_punycode - Detects xn-- prefix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2. mixed_scripts - Latin + Cyrillic detection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3. confusable_count - 25+ lookalike characters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4. unicode_category - Letter/Mark/Number/Symbol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5. script_blocks - Identifies all scripts used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6. idn_risk_score - Composite threat score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7. homograph_ratio - Suspicious character %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8. punycode_ratio - Encoded character %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9. decoded_domain - Original Unicode form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10. visual_similarity - Confusion assessment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11. brand_confusion - Impersonation detection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6"/>
          <p:cNvSpPr/>
          <p:nvPr/>
        </p:nvSpPr>
        <p:spPr>
          <a:xfrm>
            <a:off x="457200" y="566928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✅ RESULT: Blocks visual spoofing attacks that bypass all other filters!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Machine Learning Classification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Rounded Rectangle 2"/>
          <p:cNvSpPr/>
          <p:nvPr/>
        </p:nvSpPr>
        <p:spPr>
          <a:xfrm>
            <a:off x="457200" y="1097280"/>
            <a:ext cx="5486040" cy="228564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3"/>
          <p:cNvSpPr/>
          <p:nvPr/>
        </p:nvSpPr>
        <p:spPr>
          <a:xfrm>
            <a:off x="640080" y="1188720"/>
            <a:ext cx="51202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MODEL ARCHITECTURE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Algorithm: Random Forest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Estimators: 200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Features: 93 input features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Classes: 4 categories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• Training Data: 10,000+ URLs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Rounded Rectangle 4"/>
          <p:cNvSpPr/>
          <p:nvPr/>
        </p:nvSpPr>
        <p:spPr>
          <a:xfrm>
            <a:off x="6217920" y="1097280"/>
            <a:ext cx="5028840" cy="228564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Box 5"/>
          <p:cNvSpPr/>
          <p:nvPr/>
        </p:nvSpPr>
        <p:spPr>
          <a:xfrm>
            <a:off x="6400800" y="1188720"/>
            <a:ext cx="46630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PERFORMANCE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2400"/>
            </a:br>
            <a:r>
              <a:rPr b="1" lang="en-US" sz="24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F1 Score: 99.8%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Accuracy: 99.6%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Inference: ~100ms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Rounded Rectangle 6"/>
          <p:cNvSpPr/>
          <p:nvPr/>
        </p:nvSpPr>
        <p:spPr>
          <a:xfrm>
            <a:off x="457200" y="3657600"/>
            <a:ext cx="10972440" cy="255996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TextBox 7"/>
          <p:cNvSpPr/>
          <p:nvPr/>
        </p:nvSpPr>
        <p:spPr>
          <a:xfrm>
            <a:off x="640080" y="3749040"/>
            <a:ext cx="106066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4-CATEGORY CLASSIFICATION (Industry-First!)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✅ Legitimate - Safe URLs, whitelisted domains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🔴 Phishing - Traditional spoofing attacks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🟠 AI-Generated - ChatGPT/AI-created content (NEW!)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🚨 Phishing Kit - Toolkit-generated (Gophish, etc.)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MLLM Integration for AI-Generated Detection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f59e0b"/>
                </a:solidFill>
                <a:effectLst/>
                <a:uFillTx/>
                <a:latin typeface="Calibri"/>
              </a:rPr>
              <a:t>Qwen2.5-3B-Instruct Model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3 billion parameters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4-bit quantized (2GB memory)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~2 seconds inference time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Optional Tier 3 analysis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WHY MLLM?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AI-generated phishing has perfect grammar, no typos. Traditional ML fails. MLLM detects linguistic AI patterns.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600"/>
            </a:br>
            <a:r>
              <a:rPr b="1" lang="en-US" sz="16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✅ Impact: +3.2% accuracy on AI-generated samples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Web Scraping &amp; Toolkit Fingerprinting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Playwright Headless Browser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Dynamic content analysis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Screenshot capture for MLLM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Form field analysis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External link mapping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TOOLKIT SIGNATURES DETECTED: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Gophish - Track ID, rid parameter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Evilginx2 - Lure path, custom headers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HiddenEye - Template patterns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SocialFish - Redirect patterns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Enterprise Security Architecture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Defense in Depth - 8 Security Layers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1. JWT Authentication (24hr tokens)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 Rate Limiting (100 req/min)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 Input Validation (RFC 3986)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4. SSRF Protection (Private IP blocking)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5. TLS 1.3 Enforcement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6. Credential Encryption (AES-128)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7. CORS Protection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8. Audit Logging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2000"/>
            </a:br>
            <a:r>
              <a:rPr b="1" lang="en-US" sz="20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🏆 8 CVE-Level Vulnerabilities Patched!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Multi-Interface Deployment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Rounded Rectangle 2"/>
          <p:cNvSpPr/>
          <p:nvPr/>
        </p:nvSpPr>
        <p:spPr>
          <a:xfrm>
            <a:off x="457200" y="1188720"/>
            <a:ext cx="10972440" cy="82260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4" name="TextBox 3"/>
          <p:cNvSpPr/>
          <p:nvPr/>
        </p:nvSpPr>
        <p:spPr>
          <a:xfrm>
            <a:off x="640080" y="132588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1️⃣ CLI: Color-coded output, batch processing, JSON export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ounded Rectangle 4"/>
          <p:cNvSpPr/>
          <p:nvPr/>
        </p:nvSpPr>
        <p:spPr>
          <a:xfrm>
            <a:off x="457200" y="2148840"/>
            <a:ext cx="10972440" cy="82260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Box 5"/>
          <p:cNvSpPr/>
          <p:nvPr/>
        </p:nvSpPr>
        <p:spPr>
          <a:xfrm>
            <a:off x="640080" y="228600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2️⃣ REST API: FastAPI, JWT auth, Swagger docs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Rounded Rectangle 6"/>
          <p:cNvSpPr/>
          <p:nvPr/>
        </p:nvSpPr>
        <p:spPr>
          <a:xfrm>
            <a:off x="457200" y="3108960"/>
            <a:ext cx="10972440" cy="82260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8" name="TextBox 7"/>
          <p:cNvSpPr/>
          <p:nvPr/>
        </p:nvSpPr>
        <p:spPr>
          <a:xfrm>
            <a:off x="640080" y="324612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3️⃣ Browser Extension: Real-time scanning, visual highlighting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Rounded Rectangle 8"/>
          <p:cNvSpPr/>
          <p:nvPr/>
        </p:nvSpPr>
        <p:spPr>
          <a:xfrm>
            <a:off x="457200" y="4069080"/>
            <a:ext cx="10972440" cy="82260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Box 9"/>
          <p:cNvSpPr/>
          <p:nvPr/>
        </p:nvSpPr>
        <p:spPr>
          <a:xfrm>
            <a:off x="640080" y="420624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4️⃣ Desktop GUI: Tauri app, 3.8MB, cross-platform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Rounded Rectangle 10"/>
          <p:cNvSpPr/>
          <p:nvPr/>
        </p:nvSpPr>
        <p:spPr>
          <a:xfrm>
            <a:off x="457200" y="5029200"/>
            <a:ext cx="10972440" cy="82260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Box 11"/>
          <p:cNvSpPr/>
          <p:nvPr/>
        </p:nvSpPr>
        <p:spPr>
          <a:xfrm>
            <a:off x="640080" y="516636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5️⃣ Email Scanner: IMAP integration, attachment analysis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Browser Extension - Real-Time Protection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Visual Threat Highlighting: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🟢 Green underline - Safe/Legitimate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🔴 Red border - Phishing detected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🟠 Orange dashed - AI-Generated content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🔴 Dark red - Phishing Kit detected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Features: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Automatic scanning on page load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Dynamic content detection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Desktop notifications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Configurable API URL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Chrome/Brave/Edge support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Technology Stack Overview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🐍 Core: Python 3.11, FastAPI, Pydantic, PyJWT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🤖 ML/AI: scikit-learn, PyTorch, Transformers, MLflow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🌐 Web: Playwright, BeautifulSoup, requests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🗄️ Data: pandas, numpy, Redis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🛠️ DevOps: Docker, GitHub Actions, pytest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🖥️ Frontend: Tauri, React, TypeScript, Rust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fbbf24"/>
                </a:solidFill>
                <a:effectLst/>
                <a:uFillTx/>
                <a:latin typeface="Calibri"/>
              </a:rPr>
              <a:t>Total: 30+ Technologies | 10,775 Lines of Code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ML/AI Technologies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Random Forest: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200 estimators, 93 features, 99.8% F1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Qwen2.5-3B: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3B params, 4-bit quantized, AI detection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MLflow: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Model versioning, experiment tracking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Security &amp; Deployment Technologies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Security Stack: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PyJWT, cryptography, keyring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Pydantic validation, RFC 3986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Redis rate limiting, TLS 1.3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Deployment Options: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Docker + docker-compose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Kubernetes ready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Systemd service (166KB)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2" name="TextBox 2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Performance Metrics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3"/>
          <p:cNvSpPr/>
          <p:nvPr/>
        </p:nvSpPr>
        <p:spPr>
          <a:xfrm>
            <a:off x="457200" y="1371600"/>
            <a:ext cx="10972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6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99.8%</a:t>
            </a:r>
            <a:endParaRPr b="0" lang="en-US" sz="9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4"/>
          <p:cNvSpPr/>
          <p:nvPr/>
        </p:nvSpPr>
        <p:spPr>
          <a:xfrm>
            <a:off x="457200" y="256032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F1 SCORE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ounded Rectangle 5"/>
          <p:cNvSpPr/>
          <p:nvPr/>
        </p:nvSpPr>
        <p:spPr>
          <a:xfrm>
            <a:off x="1371600" y="3200400"/>
            <a:ext cx="2925720" cy="109692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TextBox 6"/>
          <p:cNvSpPr/>
          <p:nvPr/>
        </p:nvSpPr>
        <p:spPr>
          <a:xfrm>
            <a:off x="1371600" y="3291840"/>
            <a:ext cx="2925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99.6%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7"/>
          <p:cNvSpPr/>
          <p:nvPr/>
        </p:nvSpPr>
        <p:spPr>
          <a:xfrm>
            <a:off x="1371600" y="393192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Accuracy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Rounded Rectangle 8"/>
          <p:cNvSpPr/>
          <p:nvPr/>
        </p:nvSpPr>
        <p:spPr>
          <a:xfrm>
            <a:off x="4572000" y="3200400"/>
            <a:ext cx="2925720" cy="109692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Box 9"/>
          <p:cNvSpPr/>
          <p:nvPr/>
        </p:nvSpPr>
        <p:spPr>
          <a:xfrm>
            <a:off x="4572000" y="3291840"/>
            <a:ext cx="2925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99.7%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10"/>
          <p:cNvSpPr/>
          <p:nvPr/>
        </p:nvSpPr>
        <p:spPr>
          <a:xfrm>
            <a:off x="4572000" y="393192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Precision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Rounded Rectangle 11"/>
          <p:cNvSpPr/>
          <p:nvPr/>
        </p:nvSpPr>
        <p:spPr>
          <a:xfrm>
            <a:off x="7772400" y="3200400"/>
            <a:ext cx="2925720" cy="109692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TextBox 12"/>
          <p:cNvSpPr/>
          <p:nvPr/>
        </p:nvSpPr>
        <p:spPr>
          <a:xfrm>
            <a:off x="7772400" y="3291840"/>
            <a:ext cx="2925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99.9%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7772400" y="393192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Recall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14"/>
          <p:cNvSpPr/>
          <p:nvPr/>
        </p:nvSpPr>
        <p:spPr>
          <a:xfrm>
            <a:off x="457200" y="4754880"/>
            <a:ext cx="10972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Additional Metrics: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False Positive Rate: &lt;0.5% (Industry: 2-5%)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Latency: &lt;150ms (75% faster)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Throughput: 100+ URLs/minute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Test Coverage: 100% (security-critical)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Competitive Analysis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Multi-Dimensional Comparison (5 Dimensions)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Phishing Guard: 10/10 F1, 10/10 Features, 10/10 Security, 10/10 Granularity, 9/10 Latency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PhishTank: Limited features, reactive only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Google SB: Good coverage, limited features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Traditional ML: Basic detection, poor granularity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✅ Phishing Guard leads in 4 out of 5 dimensions!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Security Audit Results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8 CVE-Level Vulnerabilities Patched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🔴 HIGH: JWT Secret Exposure → Encrypted storage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🔴 HIGH: SSRF via DNS Rebinding → Private IP blocking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🔴 HIGH: Open Redirect → Strict URL validation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🟡 MED: Path Traversal → Directory traversal detection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🟡 MED: Information Disclosure → Sanitized errors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🟡 MED: Weak Random Numbers → Secrets module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🟢 LOW: Insecure Deserialization → Pydantic validation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🟢 LOW: Missing Rate Limiting → 100 req/min limit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400"/>
            </a:br>
            <a:r>
              <a:rPr b="0" lang="en-US" sz="14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Before: ❌ Plaintext passwords, No authentication, No validation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After: ✅ Fernet encrypted, JWT required, Enterprise validation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Test Coverage &amp; Quality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Coverage Metrics: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Security-Critical Code: 100%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Feature Extraction: 85%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API Endpoints: 90%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Overall: 87%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14 Comprehensive Test Suites: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435 total test cases | 100% passing rate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Real-World Testing Results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br>
              <a:rPr sz="1600"/>
            </a:b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Test 1: IDN Detection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раураl.com → ✅ PHISHING (96.3%)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600"/>
            </a:b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Test 2: AI-Generated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ChatGPT email → ✅ AI_GENERATED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600"/>
            </a:b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Test 3: Phishing Kit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Gophish page → ✅ PHISHING_KIT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600"/>
            </a:b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Test 4: Browser Extension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50 links → ✅ 47 safe, 3 phishing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600"/>
            </a:br>
            <a:r>
              <a:rPr b="1" lang="en-US" sz="16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Field Test: 1,247 URLs | 98.4% True Positives | 0.6% False Positives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Detailed Competitive Comparison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21 Categories Compared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600"/>
            </a:br>
            <a:r>
              <a:rPr b="0" lang="en-US" sz="16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Phishing Guard leads in 17/21 categories!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400"/>
            </a:b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Key Differentiators: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Only solution with IDN detection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Only solution with AI-generated classification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Only solution with 4-category output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Only open-source with enterprise 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Unique Value Proposition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"The only open-source phishing detection system that combines IDN protection, AI-generated detection, and enterprise security in a production-ready platform"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br>
              <a:rPr sz="1800"/>
            </a:br>
            <a:r>
              <a:rPr b="1" lang="en-US" sz="18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3 Pillars of Value: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🥇 IDN FIRST - Only academic system with full Unicode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🤖 AI DETECTION - Addresses ChatGPT threats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🔒 ENTERPRISE SECURITY - 8 CVEs patched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600"/>
            </a:br>
            <a:br>
              <a:rPr sz="1600"/>
            </a:br>
            <a:r>
              <a:rPr b="1" lang="en-US" sz="1600" strike="noStrike" u="none">
                <a:solidFill>
                  <a:srgbClr val="fbbf24"/>
                </a:solidFill>
                <a:effectLst/>
                <a:uFillTx/>
                <a:latin typeface="Calibri"/>
              </a:rPr>
              <a:t>Impact: 99.8% F1 | 93 Features | 8 CVEs | Production-Ready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Project Achievements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Rounded Rectangle 2"/>
          <p:cNvSpPr/>
          <p:nvPr/>
        </p:nvSpPr>
        <p:spPr>
          <a:xfrm>
            <a:off x="457200" y="1097280"/>
            <a:ext cx="10972440" cy="91404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Box 3"/>
          <p:cNvSpPr/>
          <p:nvPr/>
        </p:nvSpPr>
        <p:spPr>
          <a:xfrm>
            <a:off x="640080" y="118872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🏆 Novel Research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First IDN detection, AI classification, 4-tier architecture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ounded Rectangle 4"/>
          <p:cNvSpPr/>
          <p:nvPr/>
        </p:nvSpPr>
        <p:spPr>
          <a:xfrm>
            <a:off x="457200" y="2148840"/>
            <a:ext cx="10972440" cy="91404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TextBox 5"/>
          <p:cNvSpPr/>
          <p:nvPr/>
        </p:nvSpPr>
        <p:spPr>
          <a:xfrm>
            <a:off x="640080" y="224028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📊 Exceptional Performance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99.8% F1, 365% feature improvement, &lt;150ms latency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Rounded Rectangle 6"/>
          <p:cNvSpPr/>
          <p:nvPr/>
        </p:nvSpPr>
        <p:spPr>
          <a:xfrm>
            <a:off x="457200" y="3200400"/>
            <a:ext cx="10972440" cy="91404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3" name="TextBox 7"/>
          <p:cNvSpPr/>
          <p:nvPr/>
        </p:nvSpPr>
        <p:spPr>
          <a:xfrm>
            <a:off x="640080" y="329184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🔒 Enterprise Security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8 CVEs patched, production-ready hardening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ounded Rectangle 8"/>
          <p:cNvSpPr/>
          <p:nvPr/>
        </p:nvSpPr>
        <p:spPr>
          <a:xfrm>
            <a:off x="457200" y="4251960"/>
            <a:ext cx="10972440" cy="91404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Box 9"/>
          <p:cNvSpPr/>
          <p:nvPr/>
        </p:nvSpPr>
        <p:spPr>
          <a:xfrm>
            <a:off x="640080" y="434340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🌐 Comprehensive Solution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5 interfaces, Docker ready, MLflow integrated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Rounded Rectangle 10"/>
          <p:cNvSpPr/>
          <p:nvPr/>
        </p:nvSpPr>
        <p:spPr>
          <a:xfrm>
            <a:off x="457200" y="5303520"/>
            <a:ext cx="10972440" cy="914040"/>
          </a:xfrm>
          <a:prstGeom prst="roundRect">
            <a:avLst>
              <a:gd name="adj" fmla="val 16667"/>
            </a:avLst>
          </a:prstGeom>
          <a:solidFill>
            <a:srgbClr val="fbb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TextBox 11"/>
          <p:cNvSpPr/>
          <p:nvPr/>
        </p:nvSpPr>
        <p:spPr>
          <a:xfrm>
            <a:off x="640080" y="539496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📖 Open Source Impact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10,775 LOC, 800+ docs, free for community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Impact &amp; Significance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Research Impact: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Novel IDN detection methodology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First 4-category classification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Addresses AI-powered threats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Reproducible with MLflow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Practical Impact: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Protects against 3.4B daily phishing emails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Open source = free for everyone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Enterprise-ready for deployment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• Educational tool for courses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Limitations &amp; Constraints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Rounded Rectangle 2"/>
          <p:cNvSpPr/>
          <p:nvPr/>
        </p:nvSpPr>
        <p:spPr>
          <a:xfrm>
            <a:off x="457200" y="1097280"/>
            <a:ext cx="10972440" cy="914040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>
            <a:solidFill>
              <a:srgbClr val="ef444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TextBox 3"/>
          <p:cNvSpPr/>
          <p:nvPr/>
        </p:nvSpPr>
        <p:spPr>
          <a:xfrm>
            <a:off x="640080" y="118872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⚠️ MLLM Resources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Constraint: ~2GB RAM required | Mitigation: Optional tier, RF works standalone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Rounded Rectangle 4"/>
          <p:cNvSpPr/>
          <p:nvPr/>
        </p:nvSpPr>
        <p:spPr>
          <a:xfrm>
            <a:off x="457200" y="2148840"/>
            <a:ext cx="10972440" cy="914040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>
            <a:solidFill>
              <a:srgbClr val="ef444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Box 5"/>
          <p:cNvSpPr/>
          <p:nvPr/>
        </p:nvSpPr>
        <p:spPr>
          <a:xfrm>
            <a:off x="640080" y="224028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⚠️ Internet Dependency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Constraint: Tier 3-4 require connection | Mitigation: Graceful degradation (99.8%→97.2%)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Rounded Rectangle 6"/>
          <p:cNvSpPr/>
          <p:nvPr/>
        </p:nvSpPr>
        <p:spPr>
          <a:xfrm>
            <a:off x="457200" y="3200400"/>
            <a:ext cx="10972440" cy="914040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>
            <a:solidFill>
              <a:srgbClr val="ef444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Box 7"/>
          <p:cNvSpPr/>
          <p:nvPr/>
        </p:nvSpPr>
        <p:spPr>
          <a:xfrm>
            <a:off x="640080" y="329184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⚠️ Training Data Bias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Constraint: English-centric | Mitigation: IDN helps; multilingual planned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Rounded Rectangle 8"/>
          <p:cNvSpPr/>
          <p:nvPr/>
        </p:nvSpPr>
        <p:spPr>
          <a:xfrm>
            <a:off x="457200" y="4251960"/>
            <a:ext cx="10972440" cy="914040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>
            <a:solidFill>
              <a:srgbClr val="ef444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TextBox 9"/>
          <p:cNvSpPr/>
          <p:nvPr/>
        </p:nvSpPr>
        <p:spPr>
          <a:xfrm>
            <a:off x="640080" y="434340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⚠️ Browser Coverage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Constraint: Chrome/Brave/Edge only | Mitigation: Firefox in roadmap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Rounded Rectangle 10"/>
          <p:cNvSpPr/>
          <p:nvPr/>
        </p:nvSpPr>
        <p:spPr>
          <a:xfrm>
            <a:off x="457200" y="5303520"/>
            <a:ext cx="10972440" cy="914040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>
            <a:solidFill>
              <a:srgbClr val="ef444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TextBox 11"/>
          <p:cNvSpPr/>
          <p:nvPr/>
        </p:nvSpPr>
        <p:spPr>
          <a:xfrm>
            <a:off x="640080" y="539496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f4444"/>
                </a:solidFill>
                <a:effectLst/>
                <a:uFillTx/>
                <a:latin typeface="Calibri"/>
              </a:rPr>
              <a:t>⚠️ Email Scanner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Constraint: IMAP only | Mitigation: Exchange API planned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extBox 1"/>
          <p:cNvSpPr/>
          <p:nvPr/>
        </p:nvSpPr>
        <p:spPr>
          <a:xfrm>
            <a:off x="457200" y="274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600" strike="noStrike" u="none">
                <a:solidFill>
                  <a:srgbClr val="1e3a8a"/>
                </a:solidFill>
                <a:effectLst/>
                <a:uFillTx/>
                <a:latin typeface="Calibri"/>
              </a:rPr>
              <a:t>Future Work &amp; Roadmap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2"/>
          <p:cNvSpPr/>
          <p:nvPr/>
        </p:nvSpPr>
        <p:spPr>
          <a:xfrm>
            <a:off x="457200" y="1371600"/>
            <a:ext cx="109724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Phase 3 (80%):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Browser extension, Firefox support, Mobile app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Phase 4 (25%):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Kubernetes, monitoring, auto-scaling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800"/>
            </a:br>
            <a:r>
              <a:rPr b="1" lang="en-US" sz="1800" strike="noStrike" u="none">
                <a:solidFill>
                  <a:srgbClr val="3b82f6"/>
                </a:solidFill>
                <a:effectLst/>
                <a:uFillTx/>
                <a:latin typeface="Calibri"/>
              </a:rPr>
              <a:t>Phase 5 (0%):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Fine-tuned LLM, federated learning, SIEM integration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400"/>
            </a:b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Calibri"/>
              </a:rPr>
              <a:t>Timeline: Q1 2025 → Q2 2025 → Q3-Q4 2025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e3a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4" name="TextBox 2"/>
          <p:cNvSpPr/>
          <p:nvPr/>
        </p:nvSpPr>
        <p:spPr>
          <a:xfrm>
            <a:off x="457200" y="1371600"/>
            <a:ext cx="109724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72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Thank You!</a:t>
            </a:r>
            <a:endParaRPr b="0" lang="en-US" sz="7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3"/>
          <p:cNvSpPr/>
          <p:nvPr/>
        </p:nvSpPr>
        <p:spPr>
          <a:xfrm>
            <a:off x="457200" y="25603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3200" strike="noStrike" u="none">
                <a:solidFill>
                  <a:srgbClr val="fbbf24"/>
                </a:solidFill>
                <a:effectLst/>
                <a:uFillTx/>
                <a:latin typeface="Calibri"/>
              </a:rPr>
              <a:t>🛡️ Phishing Guard v2.0 🛡️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Box 4"/>
          <p:cNvSpPr/>
          <p:nvPr/>
        </p:nvSpPr>
        <p:spPr>
          <a:xfrm>
            <a:off x="457200" y="338328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c8c8c8"/>
                </a:solidFill>
                <a:effectLst/>
                <a:uFillTx/>
                <a:latin typeface="Calibri"/>
              </a:rPr>
              <a:t>Protecting Users Against Next-Generation Phishing Attacks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Box 5"/>
          <p:cNvSpPr/>
          <p:nvPr/>
        </p:nvSpPr>
        <p:spPr>
          <a:xfrm>
            <a:off x="457200" y="4572000"/>
            <a:ext cx="109724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bbf24"/>
                </a:solidFill>
                <a:effectLst/>
                <a:uFillTx/>
                <a:latin typeface="Calibri"/>
              </a:rPr>
              <a:t>Project Resources: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github.com/BandiAkarsh/phishing_detection_project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br>
              <a:rPr sz="2000"/>
            </a:br>
            <a:r>
              <a:rPr b="1" lang="en-US" sz="2000" strike="noStrike" u="none">
                <a:solidFill>
                  <a:srgbClr val="10b981"/>
                </a:solidFill>
                <a:effectLst/>
                <a:uFillTx/>
                <a:latin typeface="Calibri"/>
              </a:rPr>
              <a:t>Questions &amp; Discussion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LibreOffice/25.2.3.2$Linux_X86_64 LibreOffice_project/520$Build-2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2026-02-12T15:49:39Z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